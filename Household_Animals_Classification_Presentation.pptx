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6766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HOUSEHOLD ANIMALS</a:t>
            </a:r>
            <a:br/>
            <a:r>
              <a:t>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BEE0E8"/>
                </a:solidFill>
                <a:latin typeface="Aptos"/>
              </a:defRPr>
            </a:pPr>
            <a:r>
              <a:t>Cat vs Dog Recognition 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VGG-like CNN • VGG16 Transfer Learning • Fine-tuning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1280160"/>
            <a:ext cx="1417320" cy="1417320"/>
          </a:xfrm>
          <a:prstGeom prst="ellipse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0" y="2057400"/>
            <a:ext cx="1737360" cy="1737360"/>
          </a:xfrm>
          <a:prstGeom prst="ellipse">
            <a:avLst/>
          </a:prstGeom>
          <a:solidFill>
            <a:srgbClr val="2E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3291840"/>
            <a:ext cx="1005840" cy="1005840"/>
          </a:xfrm>
          <a:prstGeom prst="ellipse">
            <a:avLst/>
          </a:prstGeom>
          <a:solidFill>
            <a:srgbClr val="5EB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0" y="3657600"/>
            <a:ext cx="777240" cy="777240"/>
          </a:xfrm>
          <a:prstGeom prst="ellipse">
            <a:avLst/>
          </a:prstGeom>
          <a:solidFill>
            <a:srgbClr val="BE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E0E8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848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26E7D"/>
                </a:solidFill>
                <a:latin typeface="Aptos"/>
              </a:defRPr>
            </a:pPr>
            <a:r>
              <a:t>Objective and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Goal: classify an image as Cat or Dog.</a:t>
            </a:r>
          </a:p>
          <a:p>
            <a:pPr>
              <a:spcAft>
                <a:spcPts val="9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Dataset: Microsoft Cats vs Dogs archive (Kaggle competition download was unavailable).</a:t>
            </a:r>
          </a:p>
          <a:p>
            <a:pPr>
              <a:spcAft>
                <a:spcPts val="9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24,998 usable images after validation: 12,499 per class.</a:t>
            </a:r>
          </a:p>
          <a:p>
            <a:pPr>
              <a:spcAft>
                <a:spcPts val="9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Per class: 9,999 train, 2,000 validation, 500 test images (approximately 80/16/4).</a:t>
            </a:r>
          </a:p>
          <a:p>
            <a:pPr>
              <a:spcAft>
                <a:spcPts val="9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•  Images resized to 224 × 224 pixels; batch size 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00200"/>
            <a:ext cx="3840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5E9C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37744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Validate and clean images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Train baseline CNN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Add augmentation + dropout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Transfer learning with VGG16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Fine-tune from block5_conv1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848"/>
                </a:solidFill>
                <a:latin typeface="Aptos"/>
              </a:defRPr>
            </a:pPr>
            <a:r>
              <a:t>2.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26E7D"/>
                </a:solidFill>
                <a:latin typeface="Aptos"/>
              </a:defRPr>
            </a:pPr>
            <a:r>
              <a:t>Three model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E9C"/>
                </a:solidFill>
                <a:latin typeface="Aptos"/>
              </a:defRPr>
            </a:pPr>
            <a:r>
              <a:t>A. VGG-like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Input: 224×224×3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3×3 convolutions: 32 → 64 → 128 → 128 filters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ReLU + max pooling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Flatten → Dense(128) → Sigmoid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146304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17373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E9C"/>
                </a:solidFill>
                <a:latin typeface="Aptos"/>
              </a:defRPr>
            </a:pPr>
            <a:r>
              <a:t>B. Regularized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33172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Same convolutional backbone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Random horizontal flip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Dropout 0.5 in classifier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Designed to reduce 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7615" y="146304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6215" y="173736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E9C"/>
                </a:solidFill>
                <a:latin typeface="Aptos"/>
              </a:defRPr>
            </a:pPr>
            <a:r>
              <a:t>C. VGG16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5" y="2331720"/>
            <a:ext cx="31089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ImageNet-pretrained VGG16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Freeze convolutional base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Global Average Pooling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Dense(128) → Sigmoid</a:t>
            </a:r>
          </a:p>
          <a:p>
            <a:pPr>
              <a:spcAft>
                <a:spcPts val="9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Fine-tune from block5_conv1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9691"/>
                </a:solidFill>
                <a:latin typeface="Aptos"/>
              </a:defRPr>
            </a:pPr>
            <a:r>
              <a:t>Training: binary cross-entropy • RMSprop • Cat = 0, Dog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848"/>
                </a:solidFill>
                <a:latin typeface="Aptos"/>
              </a:defRPr>
            </a:pPr>
            <a:r>
              <a:t>3.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26E7D"/>
                </a:solidFill>
                <a:latin typeface="Aptos"/>
              </a:defRPr>
            </a:pPr>
            <a:r>
              <a:t>Test-set performance from this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17320"/>
                <a:gridCol w="16002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1928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928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VGG-like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1.6643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85.10%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Dropout + augmentation CNN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0.1856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92.20%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VGG16 transfer (before fine-tuning)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0.1036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VGG16 fine-tuned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0.0951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98.60%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69691"/>
                </a:solidFill>
                <a:latin typeface="Aptos"/>
              </a:defRPr>
            </a:pPr>
            <a:r>
              <a:t>Best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2848"/>
                </a:solidFill>
                <a:latin typeface="Aptos"/>
              </a:defRPr>
            </a:pPr>
            <a:r>
              <a:t>98.60%</a:t>
            </a:r>
            <a:br/>
            <a:r>
              <a:t>Test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4290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303D"/>
                </a:solidFill>
                <a:latin typeface="Aptos"/>
              </a:defRPr>
            </a:pPr>
            <a:r>
              <a:t>Fine-tuning improved test accuracy by 0.20 percentage points over the frozen transfer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303D"/>
                </a:solidFill>
                <a:latin typeface="Aptos"/>
              </a:defRPr>
            </a:pPr>
            <a:r>
              <a:t>The scratch baseline has a larger train–validation gap, suggesting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848"/>
                </a:solidFill>
                <a:latin typeface="Aptos"/>
              </a:defRPr>
            </a:pPr>
            <a:r>
              <a:t>4. Learning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26E7D"/>
                </a:solidFill>
                <a:latin typeface="Aptos"/>
              </a:defRPr>
            </a:pPr>
            <a:r>
              <a:t>Training and validation trends</a:t>
            </a:r>
          </a:p>
        </p:txBody>
      </p:sp>
      <p:pic>
        <p:nvPicPr>
          <p:cNvPr id="4" name="Picture 3" descr="image(20261013-1700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92848"/>
                </a:solidFill>
                <a:latin typeface="Aptos"/>
              </a:defRPr>
            </a:pPr>
            <a:r>
              <a:t>5. 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26E7D"/>
                </a:solidFill>
                <a:latin typeface="Aptos"/>
              </a:defRPr>
            </a:pPr>
            <a:r>
              <a:t>Intermediate activations and Grad-CAM</a:t>
            </a:r>
          </a:p>
        </p:txBody>
      </p:sp>
      <p:pic>
        <p:nvPicPr>
          <p:cNvPr id="4" name="Picture 3" descr="image(20261013-17033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858000" cy="4526280"/>
          </a:xfrm>
          <a:prstGeom prst="rect">
            <a:avLst/>
          </a:prstGeom>
        </p:spPr>
      </p:pic>
      <p:pic>
        <p:nvPicPr>
          <p:cNvPr id="5" name="Picture 4" descr="image(20261013-17141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42976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03D"/>
                </a:solidFill>
                <a:latin typeface="Aptos"/>
              </a:defRPr>
            </a:pPr>
            <a:r>
              <a:t>Activations visualize learned feature responses. Grad-CAM highlights regions influencing the score; this example is classified as Cat.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Transfer learning outperformed the scratch CNN.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VGG16 fine-tuning achieved 98.60% test accuracy.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Dropout and augmentation improved generalization versus baseline.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Grad-CAM gives a qualitative view of regions affecting predictions.</a:t>
            </a:r>
          </a:p>
          <a:p>
            <a:pPr>
              <a:spcAft>
                <a:spcPts val="9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Future work: confusion matrix, precision/recall, external images, repeated-seed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26E7D"/>
                </a:solidFill>
                <a:latin typeface="Aptos"/>
              </a:defRPr>
            </a:pPr>
            <a:r>
              <a:t>Household Animals Classification •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